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DAIS Project: High-Frequency Strategy Results</a:t>
            </a:r>
          </a:p>
          <a:p>
            <a:pPr>
              <a:spcBef>
                <a:spcPts val="1500"/>
              </a:spcBef>
              <a:defRPr sz="1600">
                <a:solidFill>
                  <a:srgbClr val="0284C7"/>
                </a:solidFill>
                <a:latin typeface="Arial"/>
              </a:defRPr>
            </a:pPr>
            <a:r>
              <a:t>Intraday Engine Telemetry Brief | Horizon: 30 Days | Interval: 5m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Global Portfolio Performance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71600"/>
          <a:ext cx="108200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095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Total Return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Ann. Return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Sharpe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Max Drawdown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True Beta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CMCI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BGLD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JEPQ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QQQI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0.84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284C7"/>
                </a:solidFill>
              </a:defRPr>
            </a:pPr>
            <a:r>
              <a:t>Execution Performance Stream: CMCI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Executed Sells: 0 | Overnight Liquidations: 0 | Rejected via MA20: 0 | Rejected via Cost Basis: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284C7"/>
                </a:solidFill>
              </a:defRPr>
            </a:pPr>
            <a:r>
              <a:t>Execution Performance Stream: BGLD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Executed Sells: 0 | Overnight Liquidations: 0 | Rejected via MA20: 0 | Rejected via Cost Basis: 0</a:t>
            </a:r>
          </a:p>
        </p:txBody>
      </p:sp>
      <p:pic>
        <p:nvPicPr>
          <p:cNvPr id="4" name="Picture 3" descr="BGLD_execu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Execution Strategy Topology Profiles</a:t>
            </a:r>
          </a:p>
        </p:txBody>
      </p:sp>
      <p:pic>
        <p:nvPicPr>
          <p:cNvPr id="6" name="Picture 5" descr="BGLD_equit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64592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Accumulated Growth Value Optimization</a:t>
            </a:r>
          </a:p>
        </p:txBody>
      </p:sp>
      <p:pic>
        <p:nvPicPr>
          <p:cNvPr id="8" name="Picture 7" descr="BGLD_inventory_dens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97680"/>
            <a:ext cx="11277295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179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Intraday Base Share Inventory Density Allocations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284C7"/>
                </a:solidFill>
              </a:defRPr>
            </a:pPr>
            <a:r>
              <a:t>Execution Performance Stream: JEPQ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Executed Sells: 0 | Overnight Liquidations: 0 | Rejected via MA20: 0 | Rejected via Cost Basis: 0</a:t>
            </a:r>
          </a:p>
        </p:txBody>
      </p:sp>
      <p:pic>
        <p:nvPicPr>
          <p:cNvPr id="4" name="Picture 3" descr="JEPQ_execu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Execution Strategy Topology Profiles</a:t>
            </a:r>
          </a:p>
        </p:txBody>
      </p:sp>
      <p:pic>
        <p:nvPicPr>
          <p:cNvPr id="6" name="Picture 5" descr="JEPQ_equit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64592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Accumulated Growth Value Optimization</a:t>
            </a:r>
          </a:p>
        </p:txBody>
      </p:sp>
      <p:pic>
        <p:nvPicPr>
          <p:cNvPr id="8" name="Picture 7" descr="JEPQ_inventory_dens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97680"/>
            <a:ext cx="11277295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179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Intraday Base Share Inventory Density Allocations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284C7"/>
                </a:solidFill>
              </a:defRPr>
            </a:pPr>
            <a:r>
              <a:t>Execution Performance Stream: QQQI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Executed Sells: 0 | Overnight Liquidations: 0 | Rejected via MA20: 0 | Rejected via Cost Basis: 0</a:t>
            </a:r>
          </a:p>
        </p:txBody>
      </p:sp>
      <p:pic>
        <p:nvPicPr>
          <p:cNvPr id="4" name="Picture 3" descr="QQQI_execu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4864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Execution Strategy Topology Profiles</a:t>
            </a:r>
          </a:p>
        </p:txBody>
      </p:sp>
      <p:pic>
        <p:nvPicPr>
          <p:cNvPr id="6" name="Picture 5" descr="QQQI_equit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64592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3931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Accumulated Growth Value Optimization</a:t>
            </a:r>
          </a:p>
        </p:txBody>
      </p:sp>
      <p:pic>
        <p:nvPicPr>
          <p:cNvPr id="8" name="Picture 7" descr="QQQI_inventory_dens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97680"/>
            <a:ext cx="11277295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179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Intraday Base Share Inventory Density Allocations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